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2344042"/>
            <a:ext cx="293370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867917"/>
            <a:ext cx="9001125" cy="71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b="1" sz="5100" i="0" u="none">
                <a:solidFill>
                  <a:srgbClr val="FFFFFF"/>
                </a:solidFill>
                <a:latin typeface="Outfit"/>
              </a:rPr>
              <a:t>FinSight </a:t>
            </a:r>
            <a:r>
              <a:rPr b="1" sz="5100" i="0" u="none">
                <a:solidFill>
                  <a:srgbClr val="10B981"/>
                </a:solidFill>
                <a:latin typeface="Outfit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770858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Automated Personal Finance &amp; Bank Statement Intelligence Platform with Privacy-First Edge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0776" y="2933700"/>
            <a:ext cx="3570446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Outfit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3380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Unstructured Indian Bank CSV Statements &amp; Lack of Privacy-Preserving AI Financial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2687"/>
            <a:ext cx="5334000" cy="2800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52687"/>
            <a:ext cx="5334000" cy="280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767012"/>
            <a:ext cx="4940617" cy="28575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F46E5"/>
                </a:solidFill>
                <a:latin typeface="Outfit SemiBold"/>
              </a:rPr>
              <a:t>Legacy Personal Finance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67062"/>
            <a:ext cx="4705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Manual entry is tedious. Native bank CSVs contain multi-line metadata headers and noisy UPI strings that traditional apps fail to parse cleanly.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052887"/>
            <a:ext cx="47053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Most tools upload raw user credentials to centralized cloud servers, raising grave data privacy concerns.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767012"/>
            <a:ext cx="4940617" cy="28575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F46E5"/>
                </a:solidFill>
                <a:latin typeface="Outfit SemiBold"/>
              </a:rPr>
              <a:t>FinSight 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167062"/>
            <a:ext cx="4705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Regex-powered CSV parser automatically strips headers and isolates counterparty merchant names from noisy UPI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52887"/>
            <a:ext cx="4705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PostgreSQL Row Level Security (RLS) and serverless Edge Functions proxy AI queries without exposing secret keys.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79558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795587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Problem Statement vs FinSight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386012"/>
            <a:ext cx="8620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Automated Header Stripping: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Intelligently skips variable metadata rows in Indian Bank CSV statements before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19437"/>
            <a:ext cx="8620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UPI Regex Merchant Extraction: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Extracts clean merchant identities from messy VPA handles (e.g., Swiggy, Airtel, Myntra).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52862"/>
            <a:ext cx="8620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Predictive Recurring Bill Detector: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Scans 30-day debit frequencies to detect utilities and active subscriptions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586287"/>
            <a:ext cx="8620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334155"/>
                </a:solidFill>
                <a:latin typeface="Inter"/>
              </a:rPr>
              <a:t>Conversational Gemini Advisory:</a:t>
            </a:r>
            <a:r>
              <a:rPr b="0" sz="1425" i="0" u="none">
                <a:solidFill>
                  <a:srgbClr val="334155"/>
                </a:solidFill>
                <a:latin typeface="Inter"/>
              </a:rPr>
              <a:t> Serverless Edge Function proxying for contextual budget recommendations.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09825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14325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87667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610100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Key Technical Capabilities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7475"/>
            <a:ext cx="3530649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57475"/>
            <a:ext cx="3530649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57475"/>
            <a:ext cx="3530649" cy="239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5052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Outfit SemiBold"/>
              </a:rPr>
              <a:t>Smart Statement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857625"/>
            <a:ext cx="2978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Parses debit/credit flags, normalizes transaction currencies, and applies deterministic spending auto-categorization.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6974" y="35052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Outfit SemiBold"/>
              </a:rPr>
              <a:t>Health Score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6974" y="3857625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Calculates real-time financial health index (0-100) based on savings rate, budget variance, and spending velocity.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224" y="3505200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Outfit SemiBold"/>
              </a:rPr>
              <a:t>Serverless AI Advisor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224" y="3857625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Gemini AI integration answering financial queries while keeping API keys isolated in Supabase Edge Functions.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7180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97180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97180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Product Core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Enterprise 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19175"/>
            <a:ext cx="5334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989957"/>
            <a:ext cx="5600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Outfit SemiBold"/>
              </a:rPr>
              <a:t>PostgreSQL Row Level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90007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All database tables enforce strict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auth.uid() = user_id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isolation, guaranteeing zero cross-tenant data leakage.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52887"/>
            <a:ext cx="5334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Bot protection via Cloudflare Turnstile CAPTCHA protects authentication endpoints from automated brute-force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6700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5563" y="2933700"/>
            <a:ext cx="698087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Outfit"/>
              </a:rPr>
              <a:t>System Architecture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33800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Modern Full-Stack Architecture Built for Speed, Scalability, and Absolute Privacy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43112"/>
            <a:ext cx="5600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Outfit SemiBold"/>
              </a:rPr>
              <a:t>Real-Time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43162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interactive dashboard leverages Recharts to visualize spending distribution, monthly savings velocity, and account balances.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2898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Users can manage multiple bank accounts and switch currencies seamlessly while receiving instant bill due alerts.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3112"/>
            <a:ext cx="5334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Intelligent Ingestion &amp;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7012"/>
            <a:ext cx="5334000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57537"/>
            <a:ext cx="45529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10B981"/>
                </a:solidFill>
                <a:latin typeface="Outfit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300537"/>
            <a:ext cx="45529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1E293B"/>
                </a:solidFill>
                <a:latin typeface="Inter SemiBold"/>
              </a:rPr>
              <a:t>Client Data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24187"/>
            <a:ext cx="5600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Outfit SemiBold"/>
              </a:rPr>
              <a:t>Performance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42423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0 Seconds Manual Entry: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Instant CSV parsing handles thousands of transactions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5288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Zero Client Secret Exposure: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All AI calls route strictly through server-side environment secrets.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Quantifiable Platform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81262"/>
          <a:ext cx="110489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03575"/>
                <a:gridCol w="3341935"/>
                <a:gridCol w="410348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Traditional Budget Apps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FinSight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Indian Bank UPI Statement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Fails on metadata headers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Regex metadata &amp; merchant cleaner</a:t>
                      </a:r>
                    </a:p>
                  </a:txBody>
                  <a:tcPr anchor="ctr" marL="2476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Data Privacy &amp; Isolation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Centralized shared databases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PostgreSQL Row Level Security (RLS)</a:t>
                      </a:r>
                    </a:p>
                  </a:txBody>
                  <a:tcPr anchor="ctr" marL="2476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Conversational Advisory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Static rule charts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Google Gemini AI via Serverless Edge</a:t>
                      </a:r>
                    </a:p>
                  </a:txBody>
                  <a:tcPr anchor="ctr" marL="2476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Predictive Bill 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Manual entry required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Automated 30-day cadence heuristic</a:t>
                      </a:r>
                    </a:p>
                  </a:txBody>
                  <a:tcPr anchor="ctr" marL="2476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038475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75075" y="3038475"/>
            <a:ext cx="3341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17010" y="3038475"/>
            <a:ext cx="4103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81400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75075" y="3581400"/>
            <a:ext cx="3341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17010" y="3581400"/>
            <a:ext cx="4103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124325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5075" y="4124325"/>
            <a:ext cx="3341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17010" y="4124325"/>
            <a:ext cx="4103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67250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5075" y="4667250"/>
            <a:ext cx="3341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17010" y="4667250"/>
            <a:ext cx="4103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210175"/>
            <a:ext cx="3603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5075" y="5210175"/>
            <a:ext cx="3341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17010" y="5210175"/>
            <a:ext cx="4103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4872037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4872037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3786187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4329112"/>
            <a:ext cx="1143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4329112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3243262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3243262"/>
            <a:ext cx="1143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3786187"/>
            <a:ext cx="1143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3243262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3243262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3786187"/>
            <a:ext cx="1143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3786187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4329112"/>
            <a:ext cx="1143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4329112"/>
            <a:ext cx="1333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5" y="4872037"/>
            <a:ext cx="1143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510" y="4872037"/>
            <a:ext cx="133350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Competitive Platform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338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968" y="4081462"/>
            <a:ext cx="2668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F46E5"/>
                </a:solidFill>
                <a:latin typeface="Outfit SemiBold"/>
              </a:rPr>
              <a:t>Phase 1 -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33887"/>
            <a:ext cx="25412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Indian Bank CSV parser with regex VPA cleaner and DR/CR mapping.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728912"/>
            <a:ext cx="2668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F46E5"/>
                </a:solidFill>
                <a:latin typeface="Outfit SemiBold"/>
              </a:rPr>
              <a:t>Phase 2 -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3081337"/>
            <a:ext cx="25412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Supabase RLS policies and Cloudflare Turnstile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081462"/>
            <a:ext cx="2668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F46E5"/>
                </a:solidFill>
                <a:latin typeface="Outfit SemiBold"/>
              </a:rPr>
              <a:t>Phase 3 - AI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433887"/>
            <a:ext cx="25412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Serverless Edge Functions proxying Google Gemini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728912"/>
            <a:ext cx="2668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F46E5"/>
                </a:solidFill>
                <a:latin typeface="Outfit SemiBold"/>
              </a:rPr>
              <a:t>Phase 4 -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3081337"/>
            <a:ext cx="254124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Multi-currency engine, account aggregation, and OCR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Platform Development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46870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2790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8709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54629" y="37576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38400"/>
            <a:ext cx="116014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Outfit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57575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FinSight AI — Smart, Secure, Privacy-First Personal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81475"/>
            <a:ext cx="110490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Outfit Medium"/>
              </a:rPr>
              <a:t>Repository: github.com/devanshjaiswal404/HackInMotion-RICR-HIM-1155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1087" y="3086100"/>
            <a:ext cx="100298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1087" y="3848100"/>
            <a:ext cx="100298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1087" y="3848100"/>
            <a:ext cx="100298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32289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6462" y="3236118"/>
            <a:ext cx="89344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https://www.c-sharpcorner.com/article/designing-a-modern-fintech-system-architecture-technologies-and-real-world/Images/FinTect-Tech-Stack.png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462" y="3469481"/>
            <a:ext cx="893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www.c-sharpcorner.com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" y="40005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76462" y="4007643"/>
            <a:ext cx="89344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http://other-levels.com/cdn/shop/products/Personal-Finance-Excel-Template-_-Advanced-Budgeting-Tool-Other-Levels-17250273.png?v=1759939088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462" y="4241006"/>
            <a:ext cx="893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other-levels.com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Outfit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